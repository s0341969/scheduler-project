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68000" y="432000"/>
            <a:ext cx="3456000" cy="360000"/>
          </a:xfrm>
          <a:prstGeom prst="roundRect">
            <a:avLst/>
          </a:prstGeom>
          <a:solidFill>
            <a:srgbClr val="0A5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Classroom Attendance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1080000"/>
            <a:ext cx="3311999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1D2733"/>
                </a:solidFill>
                <a:latin typeface="Microsoft JhengHei"/>
              </a:defRPr>
            </a:pPr>
            <a:r>
              <a:t>課堂打卡系統</a:t>
            </a:r>
            <a:br/>
            <a:r>
              <a:t>專題簡報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340000"/>
            <a:ext cx="37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C6773"/>
                </a:solidFill>
                <a:latin typeface="Microsoft JhengHei"/>
              </a:defRPr>
            </a:pPr>
            <a:r>
              <a:t>從構想到規劃、實作與使用說明</a:t>
            </a:r>
          </a:p>
        </p:txBody>
      </p:sp>
      <p:pic>
        <p:nvPicPr>
          <p:cNvPr id="5" name="Picture 4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000" y="720000"/>
            <a:ext cx="3636000" cy="259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999" y="6588000"/>
            <a:ext cx="84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3"/>
                </a:solidFill>
                <a:latin typeface="Microsoft JhengHei"/>
              </a:defRPr>
            </a:pPr>
            <a:r>
              <a:t>版本整理日期：2026-05-14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3999" y="324000"/>
            <a:ext cx="7488000" cy="75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D2733"/>
                </a:solidFill>
                <a:latin typeface="Microsoft JhengHei"/>
              </a:rPr>
              <a:t>專案構想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792000"/>
            <a:ext cx="73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773"/>
                </a:solidFill>
                <a:latin typeface="Microsoft JhengHei"/>
              </a:rPr>
              <a:t>為什麼要做這套課堂打卡系統</a:t>
            </a:r>
          </a:p>
        </p:txBody>
      </p:sp>
      <p:sp>
        <p:nvSpPr>
          <p:cNvPr id="4" name="Rectangle 3"/>
          <p:cNvSpPr/>
          <p:nvPr/>
        </p:nvSpPr>
        <p:spPr>
          <a:xfrm>
            <a:off x="503999" y="1080000"/>
            <a:ext cx="1296000" cy="64800"/>
          </a:xfrm>
          <a:prstGeom prst="rect">
            <a:avLst/>
          </a:prstGeom>
          <a:solidFill>
            <a:srgbClr val="D3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3999" y="1440000"/>
            <a:ext cx="2592000" cy="2015999"/>
          </a:xfrm>
          <a:prstGeom prst="roundRect">
            <a:avLst/>
          </a:prstGeom>
          <a:solidFill>
            <a:srgbClr val="FFFFFF"/>
          </a:solidFill>
          <a:ln>
            <a:solidFill>
              <a:srgbClr val="D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999" y="1565999"/>
            <a:ext cx="2304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3F3D"/>
                </a:solidFill>
                <a:latin typeface="Microsoft JhengHei"/>
              </a:defRPr>
            </a:pPr>
            <a:r>
              <a:t>痛點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000" y="1835999"/>
            <a:ext cx="23400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1D2733"/>
                </a:solidFill>
                <a:latin typeface="Microsoft JhengHei"/>
              </a:defRPr>
            </a:pPr>
            <a:r>
              <a:t>傳統紙本簽到容易代簽、統計慢、資料難保存</a:t>
            </a:r>
          </a:p>
          <a:p>
            <a:pPr>
              <a:spcAft>
                <a:spcPts val="800"/>
              </a:spcAft>
              <a:defRPr sz="1350">
                <a:solidFill>
                  <a:srgbClr val="1D2733"/>
                </a:solidFill>
                <a:latin typeface="Microsoft JhengHei"/>
              </a:defRPr>
            </a:pPr>
            <a:r>
              <a:t>老師臨時開課或調課時，出席管理缺乏彈性</a:t>
            </a:r>
          </a:p>
          <a:p>
            <a:pPr>
              <a:spcAft>
                <a:spcPts val="800"/>
              </a:spcAft>
              <a:defRPr sz="1350">
                <a:solidFill>
                  <a:srgbClr val="1D2733"/>
                </a:solidFill>
                <a:latin typeface="Microsoft JhengHei"/>
              </a:defRPr>
            </a:pPr>
            <a:r>
              <a:t>課後整理出席名單與匯出報表耗時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1999" y="1440000"/>
            <a:ext cx="2592000" cy="2015999"/>
          </a:xfrm>
          <a:prstGeom prst="roundRect">
            <a:avLst/>
          </a:prstGeom>
          <a:solidFill>
            <a:srgbClr val="FFFFFF"/>
          </a:solidFill>
          <a:ln>
            <a:solidFill>
              <a:srgbClr val="D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6000" y="1565999"/>
            <a:ext cx="2304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3F3D"/>
                </a:solidFill>
                <a:latin typeface="Microsoft JhengHei"/>
              </a:defRPr>
            </a:pPr>
            <a:r>
              <a:t>目標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37999" y="1835999"/>
            <a:ext cx="23400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1D2733"/>
                </a:solidFill>
                <a:latin typeface="Microsoft JhengHei"/>
              </a:defRPr>
            </a:pPr>
            <a:r>
              <a:t>讓教室現場可立即開放打卡</a:t>
            </a:r>
          </a:p>
          <a:p>
            <a:pPr>
              <a:spcAft>
                <a:spcPts val="800"/>
              </a:spcAft>
              <a:defRPr sz="1350">
                <a:solidFill>
                  <a:srgbClr val="1D2733"/>
                </a:solidFill>
                <a:latin typeface="Microsoft JhengHei"/>
              </a:defRPr>
            </a:pPr>
            <a:r>
              <a:t>降低代打卡與重複打卡風險</a:t>
            </a:r>
          </a:p>
          <a:p>
            <a:pPr>
              <a:spcAft>
                <a:spcPts val="800"/>
              </a:spcAft>
              <a:defRPr sz="1350">
                <a:solidFill>
                  <a:srgbClr val="1D2733"/>
                </a:solidFill>
                <a:latin typeface="Microsoft JhengHei"/>
              </a:defRPr>
            </a:pPr>
            <a:r>
              <a:t>提供後台維護、QR 打卡與 Excel 匯出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0000" y="1440000"/>
            <a:ext cx="2520000" cy="2015999"/>
          </a:xfrm>
          <a:prstGeom prst="roundRect">
            <a:avLst/>
          </a:prstGeom>
          <a:solidFill>
            <a:srgbClr val="FFFFFF"/>
          </a:solidFill>
          <a:ln>
            <a:solidFill>
              <a:srgbClr val="D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999" y="1565999"/>
            <a:ext cx="2232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3F3D"/>
                </a:solidFill>
                <a:latin typeface="Microsoft JhengHei"/>
              </a:defRPr>
            </a:pPr>
            <a:r>
              <a:t>核心原則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6000" y="1835999"/>
            <a:ext cx="22680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1D2733"/>
                </a:solidFill>
                <a:latin typeface="Microsoft JhengHei"/>
              </a:defRPr>
            </a:pPr>
            <a:r>
              <a:t>單機即可執行，不依賴外部資料庫</a:t>
            </a:r>
          </a:p>
          <a:p>
            <a:pPr>
              <a:spcAft>
                <a:spcPts val="800"/>
              </a:spcAft>
              <a:defRPr sz="1350">
                <a:solidFill>
                  <a:srgbClr val="1D2733"/>
                </a:solidFill>
                <a:latin typeface="Microsoft JhengHei"/>
              </a:defRPr>
            </a:pPr>
            <a:r>
              <a:t>繁體中文介面，操作直覺</a:t>
            </a:r>
          </a:p>
          <a:p>
            <a:pPr>
              <a:spcAft>
                <a:spcPts val="800"/>
              </a:spcAft>
              <a:defRPr sz="1350">
                <a:solidFill>
                  <a:srgbClr val="1D2733"/>
                </a:solidFill>
                <a:latin typeface="Microsoft JhengHei"/>
              </a:defRPr>
            </a:pPr>
            <a:r>
              <a:t>可持續擴充到校務登入與多角色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3999" y="6588000"/>
            <a:ext cx="84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3"/>
                </a:solidFill>
                <a:latin typeface="Microsoft JhengHei"/>
              </a:defRPr>
            </a:pPr>
            <a:r>
              <a:t>定位：教室現場可落地的出席管理工具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3999" y="324000"/>
            <a:ext cx="7488000" cy="75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D2733"/>
                </a:solidFill>
                <a:latin typeface="Microsoft JhengHei"/>
              </a:rPr>
              <a:t>需求規劃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792000"/>
            <a:ext cx="73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773"/>
                </a:solidFill>
                <a:latin typeface="Microsoft JhengHei"/>
              </a:rPr>
              <a:t>從功能面拆解系統必備能力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503999" y="1080000"/>
            <a:ext cx="1296000" cy="64800"/>
          </a:xfrm>
          <a:prstGeom prst="rect">
            <a:avLst/>
          </a:prstGeom>
          <a:solidFill>
            <a:srgbClr val="D3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00" y="1440000"/>
            <a:ext cx="7920000" cy="3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D2733"/>
                </a:solidFill>
                <a:latin typeface="Microsoft JhengHei"/>
              </a:defRPr>
            </a:pPr>
            <a:r>
              <a:t>課堂總覽：可快速看到今日課堂、狀態與出席數</a:t>
            </a:r>
          </a:p>
          <a:p>
            <a:pPr>
              <a:spcAft>
                <a:spcPts val="800"/>
              </a:spcAft>
              <a:defRPr sz="1700">
                <a:solidFill>
                  <a:srgbClr val="1D2733"/>
                </a:solidFill>
                <a:latin typeface="Microsoft JhengHei"/>
              </a:defRPr>
            </a:pPr>
            <a:r>
              <a:t>學生本人打卡：學生登入後才能提交，不允許手改學號姓名</a:t>
            </a:r>
          </a:p>
          <a:p>
            <a:pPr>
              <a:spcAft>
                <a:spcPts val="800"/>
              </a:spcAft>
              <a:defRPr sz="1700">
                <a:solidFill>
                  <a:srgbClr val="1D2733"/>
                </a:solidFill>
                <a:latin typeface="Microsoft JhengHei"/>
              </a:defRPr>
            </a:pPr>
            <a:r>
              <a:t>動態 QR Code：課堂投影掃碼進入打卡頁，Token 具時效性</a:t>
            </a:r>
          </a:p>
          <a:p>
            <a:pPr>
              <a:spcAft>
                <a:spcPts val="800"/>
              </a:spcAft>
              <a:defRPr sz="1700">
                <a:solidFill>
                  <a:srgbClr val="1D2733"/>
                </a:solidFill>
                <a:latin typeface="Microsoft JhengHei"/>
              </a:defRPr>
            </a:pPr>
            <a:r>
              <a:t>防重複與可疑標記：重複打卡阻擋，異常網路與裝置行為標示</a:t>
            </a:r>
          </a:p>
          <a:p>
            <a:pPr>
              <a:spcAft>
                <a:spcPts val="800"/>
              </a:spcAft>
              <a:defRPr sz="1700">
                <a:solidFill>
                  <a:srgbClr val="1D2733"/>
                </a:solidFill>
                <a:latin typeface="Microsoft JhengHei"/>
              </a:defRPr>
            </a:pPr>
            <a:r>
              <a:t>管理後台：課程維護、課堂維護、打卡開關與報表匯出</a:t>
            </a:r>
          </a:p>
          <a:p>
            <a:pPr>
              <a:spcAft>
                <a:spcPts val="800"/>
              </a:spcAft>
              <a:defRPr sz="1700">
                <a:solidFill>
                  <a:srgbClr val="1D2733"/>
                </a:solidFill>
                <a:latin typeface="Microsoft JhengHei"/>
              </a:defRPr>
            </a:pPr>
            <a:r>
              <a:t>班級分層：首頁依一年級至三年級、101-310 班顯示課堂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3999" y="6588000"/>
            <a:ext cx="84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3"/>
                </a:solidFill>
                <a:latin typeface="Microsoft JhengHei"/>
              </a:defRPr>
            </a:pPr>
            <a:r>
              <a:t>功能規劃先從單機版做穩，再往校務整合延伸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3999" y="324000"/>
            <a:ext cx="7488000" cy="75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D2733"/>
                </a:solidFill>
                <a:latin typeface="Microsoft JhengHei"/>
              </a:rPr>
              <a:t>系統架構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792000"/>
            <a:ext cx="73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773"/>
                </a:solidFill>
                <a:latin typeface="Microsoft JhengHei"/>
              </a:rPr>
              <a:t>技術選型與資料流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503999" y="1080000"/>
            <a:ext cx="1296000" cy="64800"/>
          </a:xfrm>
          <a:prstGeom prst="rect">
            <a:avLst/>
          </a:prstGeom>
          <a:solidFill>
            <a:srgbClr val="D3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3999" y="1440000"/>
            <a:ext cx="1944000" cy="2160000"/>
          </a:xfrm>
          <a:prstGeom prst="roundRect">
            <a:avLst/>
          </a:prstGeom>
          <a:solidFill>
            <a:srgbClr val="FFFFFF"/>
          </a:solidFill>
          <a:ln>
            <a:solidFill>
              <a:srgbClr val="D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999" y="1565999"/>
            <a:ext cx="16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3F3D"/>
                </a:solidFill>
                <a:latin typeface="Microsoft JhengHei"/>
              </a:defRPr>
            </a:pPr>
            <a:r>
              <a:t>前端 / 介面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000" y="1835999"/>
            <a:ext cx="1692000" cy="16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1D2733"/>
                </a:solidFill>
                <a:latin typeface="Microsoft JhengHei"/>
              </a:defRPr>
            </a:pPr>
            <a:r>
              <a:t>ASP.NET Core MVC</a:t>
            </a:r>
          </a:p>
          <a:p>
            <a:pPr>
              <a:spcAft>
                <a:spcPts val="800"/>
              </a:spcAft>
              <a:defRPr sz="1350">
                <a:solidFill>
                  <a:srgbClr val="1D2733"/>
                </a:solidFill>
                <a:latin typeface="Microsoft JhengHei"/>
              </a:defRPr>
            </a:pPr>
            <a:r>
              <a:t>Razor Views</a:t>
            </a:r>
          </a:p>
          <a:p>
            <a:pPr>
              <a:spcAft>
                <a:spcPts val="800"/>
              </a:spcAft>
              <a:defRPr sz="1350">
                <a:solidFill>
                  <a:srgbClr val="1D2733"/>
                </a:solidFill>
                <a:latin typeface="Microsoft JhengHei"/>
              </a:defRPr>
            </a:pPr>
            <a:r>
              <a:t>繁體中文教務風格介面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92000" y="1440000"/>
            <a:ext cx="1944000" cy="2160000"/>
          </a:xfrm>
          <a:prstGeom prst="roundRect">
            <a:avLst/>
          </a:prstGeom>
          <a:solidFill>
            <a:srgbClr val="FFFFFF"/>
          </a:solidFill>
          <a:ln>
            <a:solidFill>
              <a:srgbClr val="D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36000" y="1565999"/>
            <a:ext cx="16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3F3D"/>
                </a:solidFill>
                <a:latin typeface="Microsoft JhengHei"/>
              </a:defRPr>
            </a:pPr>
            <a:r>
              <a:t>業務邏輯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18000" y="1835999"/>
            <a:ext cx="1692000" cy="16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1D2733"/>
                </a:solidFill>
                <a:latin typeface="Microsoft JhengHei"/>
              </a:defRPr>
            </a:pPr>
            <a:r>
              <a:t>AttendanceQueryService</a:t>
            </a:r>
          </a:p>
          <a:p>
            <a:pPr>
              <a:spcAft>
                <a:spcPts val="800"/>
              </a:spcAft>
              <a:defRPr sz="1350">
                <a:solidFill>
                  <a:srgbClr val="1D2733"/>
                </a:solidFill>
                <a:latin typeface="Microsoft JhengHei"/>
              </a:defRPr>
            </a:pPr>
            <a:r>
              <a:t>Admin / Student 驗證服務</a:t>
            </a:r>
          </a:p>
          <a:p>
            <a:pPr>
              <a:spcAft>
                <a:spcPts val="800"/>
              </a:spcAft>
              <a:defRPr sz="1350">
                <a:solidFill>
                  <a:srgbClr val="1D2733"/>
                </a:solidFill>
                <a:latin typeface="Microsoft JhengHei"/>
              </a:defRPr>
            </a:pPr>
            <a:r>
              <a:t>QR Token 驗證與規則判斷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80000" y="1440000"/>
            <a:ext cx="1944000" cy="2160000"/>
          </a:xfrm>
          <a:prstGeom prst="roundRect">
            <a:avLst/>
          </a:prstGeom>
          <a:solidFill>
            <a:srgbClr val="FFFFFF"/>
          </a:solidFill>
          <a:ln>
            <a:solidFill>
              <a:srgbClr val="D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24000" y="1565999"/>
            <a:ext cx="165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3F3D"/>
                </a:solidFill>
                <a:latin typeface="Microsoft JhengHei"/>
              </a:defRPr>
            </a:pPr>
            <a:r>
              <a:t>資料層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6000" y="1835999"/>
            <a:ext cx="1692000" cy="16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1D2733"/>
                </a:solidFill>
                <a:latin typeface="Microsoft JhengHei"/>
              </a:defRPr>
            </a:pPr>
            <a:r>
              <a:t>JSON 檔持久化</a:t>
            </a:r>
          </a:p>
          <a:p>
            <a:pPr>
              <a:spcAft>
                <a:spcPts val="800"/>
              </a:spcAft>
              <a:defRPr sz="1350">
                <a:solidFill>
                  <a:srgbClr val="1D2733"/>
                </a:solidFill>
                <a:latin typeface="Microsoft JhengHei"/>
              </a:defRPr>
            </a:pPr>
            <a:r>
              <a:t>App_Data/attendance-data.json</a:t>
            </a:r>
          </a:p>
          <a:p>
            <a:pPr>
              <a:spcAft>
                <a:spcPts val="800"/>
              </a:spcAft>
              <a:defRPr sz="1350">
                <a:solidFill>
                  <a:srgbClr val="1D2733"/>
                </a:solidFill>
                <a:latin typeface="Microsoft JhengHei"/>
              </a:defRPr>
            </a:pPr>
            <a:r>
              <a:t>SemaphoreSlim 保護並發寫入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8000" y="1440000"/>
            <a:ext cx="1800000" cy="2160000"/>
          </a:xfrm>
          <a:prstGeom prst="roundRect">
            <a:avLst/>
          </a:prstGeom>
          <a:solidFill>
            <a:srgbClr val="FFFFFF"/>
          </a:solidFill>
          <a:ln>
            <a:solidFill>
              <a:srgbClr val="D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12000" y="1565999"/>
            <a:ext cx="1512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3F3D"/>
                </a:solidFill>
                <a:latin typeface="Microsoft JhengHei"/>
              </a:defRPr>
            </a:pPr>
            <a:r>
              <a:t>外部能力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000" y="1835999"/>
            <a:ext cx="1548000" cy="16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1D2733"/>
                </a:solidFill>
                <a:latin typeface="Microsoft JhengHei"/>
              </a:defRPr>
            </a:pPr>
            <a:r>
              <a:t>ClosedXML 匯出 Excel</a:t>
            </a:r>
          </a:p>
          <a:p>
            <a:pPr>
              <a:spcAft>
                <a:spcPts val="800"/>
              </a:spcAft>
              <a:defRPr sz="1350">
                <a:solidFill>
                  <a:srgbClr val="1D2733"/>
                </a:solidFill>
                <a:latin typeface="Microsoft JhengHei"/>
              </a:defRPr>
            </a:pPr>
            <a:r>
              <a:t>QRCoder 產生 QR</a:t>
            </a:r>
          </a:p>
          <a:p>
            <a:pPr>
              <a:spcAft>
                <a:spcPts val="800"/>
              </a:spcAft>
              <a:defRPr sz="1350">
                <a:solidFill>
                  <a:srgbClr val="1D2733"/>
                </a:solidFill>
                <a:latin typeface="Microsoft JhengHei"/>
              </a:defRPr>
            </a:pPr>
            <a:r>
              <a:t>Cookie Authentication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999" y="6588000"/>
            <a:ext cx="84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3"/>
                </a:solidFill>
                <a:latin typeface="Microsoft JhengHei"/>
              </a:defRPr>
            </a:pPr>
            <a:r>
              <a:t>選型重點：部署簡單、維護成本低、功能完整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3999" y="324000"/>
            <a:ext cx="7488000" cy="75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D2733"/>
                </a:solidFill>
                <a:latin typeface="Microsoft JhengHei"/>
              </a:rPr>
              <a:t>實作重點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792000"/>
            <a:ext cx="73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773"/>
                </a:solidFill>
                <a:latin typeface="Microsoft JhengHei"/>
              </a:rPr>
              <a:t>從規劃轉成可運作系統</a:t>
            </a:r>
          </a:p>
        </p:txBody>
      </p:sp>
      <p:sp>
        <p:nvSpPr>
          <p:cNvPr id="4" name="Rectangle 3"/>
          <p:cNvSpPr/>
          <p:nvPr/>
        </p:nvSpPr>
        <p:spPr>
          <a:xfrm>
            <a:off x="503999" y="1080000"/>
            <a:ext cx="1296000" cy="64800"/>
          </a:xfrm>
          <a:prstGeom prst="rect">
            <a:avLst/>
          </a:prstGeom>
          <a:solidFill>
            <a:srgbClr val="D3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00" y="1440000"/>
            <a:ext cx="4320000" cy="38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D2733"/>
                </a:solidFill>
                <a:latin typeface="Microsoft JhengHei"/>
              </a:defRPr>
            </a:pPr>
            <a:r>
              <a:t>建立課程、課堂、出席紀錄三個核心資料模型</a:t>
            </a:r>
          </a:p>
          <a:p>
            <a:pPr>
              <a:spcAft>
                <a:spcPts val="800"/>
              </a:spcAft>
              <a:defRPr sz="1600">
                <a:solidFill>
                  <a:srgbClr val="1D2733"/>
                </a:solidFill>
                <a:latin typeface="Microsoft JhengHei"/>
              </a:defRPr>
            </a:pPr>
            <a:r>
              <a:t>首頁儀表板彙整課堂狀態與近期打卡資訊</a:t>
            </a:r>
          </a:p>
          <a:p>
            <a:pPr>
              <a:spcAft>
                <a:spcPts val="800"/>
              </a:spcAft>
              <a:defRPr sz="1600">
                <a:solidFill>
                  <a:srgbClr val="1D2733"/>
                </a:solidFill>
                <a:latin typeface="Microsoft JhengHei"/>
              </a:defRPr>
            </a:pPr>
            <a:r>
              <a:t>加入管理者後台，支援新增 / 編輯 / 刪除課程與課堂</a:t>
            </a:r>
          </a:p>
          <a:p>
            <a:pPr>
              <a:spcAft>
                <a:spcPts val="800"/>
              </a:spcAft>
              <a:defRPr sz="1600">
                <a:solidFill>
                  <a:srgbClr val="1D2733"/>
                </a:solidFill>
                <a:latin typeface="Microsoft JhengHei"/>
              </a:defRPr>
            </a:pPr>
            <a:r>
              <a:t>加入學生登入、動態 QR Token、班級 SSID 網段驗證</a:t>
            </a:r>
          </a:p>
          <a:p>
            <a:pPr>
              <a:spcAft>
                <a:spcPts val="800"/>
              </a:spcAft>
              <a:defRPr sz="1600">
                <a:solidFill>
                  <a:srgbClr val="1D2733"/>
                </a:solidFill>
                <a:latin typeface="Microsoft JhengHei"/>
              </a:defRPr>
            </a:pPr>
            <a:r>
              <a:t>將風險行為寫入出席紀錄，供後台複核與 Excel 匯出</a:t>
            </a:r>
          </a:p>
          <a:p>
            <a:pPr>
              <a:spcAft>
                <a:spcPts val="800"/>
              </a:spcAft>
              <a:defRPr sz="1600">
                <a:solidFill>
                  <a:srgbClr val="1D2733"/>
                </a:solidFill>
                <a:latin typeface="Microsoft JhengHei"/>
              </a:defRPr>
            </a:pPr>
            <a:r>
              <a:t>新增班級欄位與首頁年級班級分組，讓班級課堂一目了然</a:t>
            </a:r>
          </a:p>
        </p:txBody>
      </p:sp>
      <p:pic>
        <p:nvPicPr>
          <p:cNvPr id="6" name="Picture 5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000" y="1475999"/>
            <a:ext cx="3276000" cy="234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3999" y="6588000"/>
            <a:ext cx="84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3"/>
                </a:solidFill>
                <a:latin typeface="Microsoft JhengHei"/>
              </a:defRPr>
            </a:pPr>
            <a:r>
              <a:t>實作策略：功能先可用，再逐步補強安全與管理能力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3999" y="324000"/>
            <a:ext cx="7488000" cy="75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D2733"/>
                </a:solidFill>
                <a:latin typeface="Microsoft JhengHei"/>
              </a:rPr>
              <a:t>首頁總覽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792000"/>
            <a:ext cx="73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773"/>
                </a:solidFill>
                <a:latin typeface="Microsoft JhengHei"/>
              </a:rPr>
              <a:t>依年級與班級查看課堂狀態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3999" y="1080000"/>
            <a:ext cx="1296000" cy="64800"/>
          </a:xfrm>
          <a:prstGeom prst="rect">
            <a:avLst/>
          </a:prstGeom>
          <a:solidFill>
            <a:srgbClr val="D3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99" y="1332000"/>
            <a:ext cx="5148000" cy="381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32000" y="1512000"/>
            <a:ext cx="2628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D2733"/>
                </a:solidFill>
                <a:latin typeface="Microsoft JhengHei"/>
              </a:defRPr>
            </a:pPr>
            <a:r>
              <a:t>首頁顯示開放打卡課堂數、累積打卡筆數與更新時間</a:t>
            </a:r>
          </a:p>
          <a:p>
            <a:pPr>
              <a:spcAft>
                <a:spcPts val="800"/>
              </a:spcAft>
              <a:defRPr sz="1500">
                <a:solidFill>
                  <a:srgbClr val="1D2733"/>
                </a:solidFill>
                <a:latin typeface="Microsoft JhengHei"/>
              </a:defRPr>
            </a:pPr>
            <a:r>
              <a:t>固定分為一年級 101-110、二年級 201-210、三年級 301-310</a:t>
            </a:r>
          </a:p>
          <a:p>
            <a:pPr>
              <a:spcAft>
                <a:spcPts val="800"/>
              </a:spcAft>
              <a:defRPr sz="1500">
                <a:solidFill>
                  <a:srgbClr val="1D2733"/>
                </a:solidFill>
                <a:latin typeface="Microsoft JhengHei"/>
              </a:defRPr>
            </a:pPr>
            <a:r>
              <a:t>每張課堂卡片提供 QR 打卡板、學生登入與管理切換打卡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999" y="6588000"/>
            <a:ext cx="84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3"/>
                </a:solidFill>
                <a:latin typeface="Microsoft JhengHei"/>
              </a:defRPr>
            </a:pPr>
            <a:r>
              <a:t>總覽頁是教務端與現場老師的主要入口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3999" y="324000"/>
            <a:ext cx="7488000" cy="75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D2733"/>
                </a:solidFill>
                <a:latin typeface="Microsoft JhengHei"/>
              </a:rPr>
              <a:t>學生打卡流程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792000"/>
            <a:ext cx="73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773"/>
                </a:solidFill>
                <a:latin typeface="Microsoft JhengHei"/>
              </a:rPr>
              <a:t>登入後掃描 QR Code 完成本人打卡</a:t>
            </a:r>
          </a:p>
        </p:txBody>
      </p:sp>
      <p:sp>
        <p:nvSpPr>
          <p:cNvPr id="4" name="Rectangle 3"/>
          <p:cNvSpPr/>
          <p:nvPr/>
        </p:nvSpPr>
        <p:spPr>
          <a:xfrm>
            <a:off x="503999" y="1080000"/>
            <a:ext cx="1296000" cy="64800"/>
          </a:xfrm>
          <a:prstGeom prst="rect">
            <a:avLst/>
          </a:prstGeom>
          <a:solidFill>
            <a:srgbClr val="D3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3999" y="1440000"/>
            <a:ext cx="2520000" cy="2664000"/>
          </a:xfrm>
          <a:prstGeom prst="roundRect">
            <a:avLst/>
          </a:prstGeom>
          <a:solidFill>
            <a:srgbClr val="FFFFFF"/>
          </a:solidFill>
          <a:ln>
            <a:solidFill>
              <a:srgbClr val="D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999" y="1565999"/>
            <a:ext cx="2232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3F3D"/>
                </a:solidFill>
                <a:latin typeface="Microsoft JhengHei"/>
              </a:defRPr>
            </a:pPr>
            <a:r>
              <a:t>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000" y="1835999"/>
            <a:ext cx="2268000" cy="21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1D2733"/>
                </a:solidFill>
                <a:latin typeface="Microsoft JhengHei"/>
              </a:defRPr>
            </a:pPr>
            <a:r>
              <a:t>1. 學生先進入 /Student/Login</a:t>
            </a:r>
          </a:p>
          <a:p>
            <a:pPr>
              <a:spcAft>
                <a:spcPts val="800"/>
              </a:spcAft>
              <a:defRPr sz="1350">
                <a:solidFill>
                  <a:srgbClr val="1D2733"/>
                </a:solidFill>
                <a:latin typeface="Microsoft JhengHei"/>
              </a:defRPr>
            </a:pPr>
            <a:r>
              <a:t>2. 輸入學號與密碼登入</a:t>
            </a:r>
          </a:p>
          <a:p>
            <a:pPr>
              <a:spcAft>
                <a:spcPts val="800"/>
              </a:spcAft>
              <a:defRPr sz="1350">
                <a:solidFill>
                  <a:srgbClr val="1D2733"/>
                </a:solidFill>
                <a:latin typeface="Microsoft JhengHei"/>
              </a:defRPr>
            </a:pPr>
            <a:r>
              <a:t>3. 連上班級 SSID 對應網段</a:t>
            </a:r>
          </a:p>
          <a:p>
            <a:pPr>
              <a:spcAft>
                <a:spcPts val="800"/>
              </a:spcAft>
              <a:defRPr sz="1350">
                <a:solidFill>
                  <a:srgbClr val="1D2733"/>
                </a:solidFill>
                <a:latin typeface="Microsoft JhengHei"/>
              </a:defRPr>
            </a:pPr>
            <a:r>
              <a:t>4. 掃描課堂 QR Code 進入打卡頁</a:t>
            </a:r>
          </a:p>
          <a:p>
            <a:pPr>
              <a:spcAft>
                <a:spcPts val="800"/>
              </a:spcAft>
              <a:defRPr sz="1350">
                <a:solidFill>
                  <a:srgbClr val="1D2733"/>
                </a:solidFill>
                <a:latin typeface="Microsoft JhengHei"/>
              </a:defRPr>
            </a:pPr>
            <a:r>
              <a:t>5. 系統以登入身份送出打卡</a:t>
            </a:r>
          </a:p>
        </p:txBody>
      </p:sp>
      <p:pic>
        <p:nvPicPr>
          <p:cNvPr id="8" name="Picture 7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1999" y="1512000"/>
            <a:ext cx="2448000" cy="1728000"/>
          </a:xfrm>
          <a:prstGeom prst="rect">
            <a:avLst/>
          </a:prstGeom>
        </p:spPr>
      </p:pic>
      <p:pic>
        <p:nvPicPr>
          <p:cNvPr id="9" name="Picture 8" descr="check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3999" y="1512000"/>
            <a:ext cx="2520000" cy="172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48000" y="3456000"/>
            <a:ext cx="48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5C6773"/>
                </a:solidFill>
                <a:latin typeface="Microsoft JhengHei"/>
              </a:defRPr>
            </a:pPr>
            <a:r>
              <a:t>示範帳號：S1123001 / Student123! 等三組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3999" y="6588000"/>
            <a:ext cx="84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3"/>
                </a:solidFill>
                <a:latin typeface="Microsoft JhengHei"/>
              </a:defRPr>
            </a:pPr>
            <a:r>
              <a:t>學生端設計重點：流程短、本人性更高、避免手動造假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3999" y="324000"/>
            <a:ext cx="7488000" cy="75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D2733"/>
                </a:solidFill>
                <a:latin typeface="Microsoft JhengHei"/>
              </a:rPr>
              <a:t>QR 與安全機制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792000"/>
            <a:ext cx="73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773"/>
                </a:solidFill>
                <a:latin typeface="Microsoft JhengHei"/>
              </a:rPr>
              <a:t>降低代打卡與異常打卡風險</a:t>
            </a:r>
          </a:p>
        </p:txBody>
      </p:sp>
      <p:sp>
        <p:nvSpPr>
          <p:cNvPr id="4" name="Rectangle 3"/>
          <p:cNvSpPr/>
          <p:nvPr/>
        </p:nvSpPr>
        <p:spPr>
          <a:xfrm>
            <a:off x="503999" y="1080000"/>
            <a:ext cx="1296000" cy="64800"/>
          </a:xfrm>
          <a:prstGeom prst="rect">
            <a:avLst/>
          </a:prstGeom>
          <a:solidFill>
            <a:srgbClr val="D3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3999" y="1440000"/>
            <a:ext cx="2520000" cy="2520000"/>
          </a:xfrm>
          <a:prstGeom prst="roundRect">
            <a:avLst/>
          </a:prstGeom>
          <a:solidFill>
            <a:srgbClr val="FFFFFF"/>
          </a:solidFill>
          <a:ln>
            <a:solidFill>
              <a:srgbClr val="D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999" y="1565999"/>
            <a:ext cx="2232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3F3D"/>
                </a:solidFill>
                <a:latin typeface="Microsoft JhengHei"/>
              </a:defRPr>
            </a:pPr>
            <a:r>
              <a:t>安全設計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000" y="1835999"/>
            <a:ext cx="2268000" cy="20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1D2733"/>
                </a:solidFill>
                <a:latin typeface="Microsoft JhengHei"/>
              </a:defRPr>
            </a:pPr>
            <a:r>
              <a:t>動態 QR Code 預設 5 分鐘失效</a:t>
            </a:r>
          </a:p>
          <a:p>
            <a:pPr>
              <a:spcAft>
                <a:spcPts val="800"/>
              </a:spcAft>
              <a:defRPr sz="1350">
                <a:solidFill>
                  <a:srgbClr val="1D2733"/>
                </a:solidFill>
                <a:latin typeface="Microsoft JhengHei"/>
              </a:defRPr>
            </a:pPr>
            <a:r>
              <a:t>同一課堂同一學號不可重複打卡</a:t>
            </a:r>
          </a:p>
          <a:p>
            <a:pPr>
              <a:spcAft>
                <a:spcPts val="800"/>
              </a:spcAft>
              <a:defRPr sz="1350">
                <a:solidFill>
                  <a:srgbClr val="1D2733"/>
                </a:solidFill>
                <a:latin typeface="Microsoft JhengHei"/>
              </a:defRPr>
            </a:pPr>
            <a:r>
              <a:t>來源 IP 必須符合班級 SSID 網段規則</a:t>
            </a:r>
          </a:p>
          <a:p>
            <a:pPr>
              <a:spcAft>
                <a:spcPts val="800"/>
              </a:spcAft>
              <a:defRPr sz="1350">
                <a:solidFill>
                  <a:srgbClr val="1D2733"/>
                </a:solidFill>
                <a:latin typeface="Microsoft JhengHei"/>
              </a:defRPr>
            </a:pPr>
            <a:r>
              <a:t>記錄 User-Agent、裝置指紋、來源 IP</a:t>
            </a:r>
          </a:p>
          <a:p>
            <a:pPr>
              <a:spcAft>
                <a:spcPts val="800"/>
              </a:spcAft>
              <a:defRPr sz="1350">
                <a:solidFill>
                  <a:srgbClr val="1D2733"/>
                </a:solidFill>
                <a:latin typeface="Microsoft JhengHei"/>
              </a:defRPr>
            </a:pPr>
            <a:r>
              <a:t>可疑紀錄在後台集中檢視</a:t>
            </a:r>
          </a:p>
        </p:txBody>
      </p:sp>
      <p:pic>
        <p:nvPicPr>
          <p:cNvPr id="8" name="Picture 7" descr="qr-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1999" y="1475999"/>
            <a:ext cx="2448000" cy="216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0000" y="1620000"/>
            <a:ext cx="2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D2733"/>
                </a:solidFill>
                <a:latin typeface="Microsoft JhengHei"/>
              </a:defRPr>
            </a:pPr>
            <a:r>
              <a:t>可疑條件示例：不在允許網段、同裝置短時間被不同學號使用。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0000" y="2520000"/>
            <a:ext cx="25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C6773"/>
                </a:solidFill>
                <a:latin typeface="Microsoft JhengHei"/>
              </a:defRPr>
            </a:pPr>
            <a:r>
              <a:t>這不是生物辨識，但已兼顧成本、可維護性與教室現場可行性。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3999" y="6588000"/>
            <a:ext cx="84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3"/>
                </a:solidFill>
                <a:latin typeface="Microsoft JhengHei"/>
              </a:defRPr>
            </a:pPr>
            <a:r>
              <a:t>安全策略採漸進式防護，而非一次引入高成本硬體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3999" y="324000"/>
            <a:ext cx="7488000" cy="75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D2733"/>
                </a:solidFill>
                <a:latin typeface="Microsoft JhengHei"/>
              </a:rPr>
              <a:t>管理者使用說明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792000"/>
            <a:ext cx="73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773"/>
                </a:solidFill>
                <a:latin typeface="Microsoft JhengHei"/>
              </a:rPr>
              <a:t>日常操作路徑</a:t>
            </a:r>
          </a:p>
        </p:txBody>
      </p:sp>
      <p:sp>
        <p:nvSpPr>
          <p:cNvPr id="4" name="Rectangle 3"/>
          <p:cNvSpPr/>
          <p:nvPr/>
        </p:nvSpPr>
        <p:spPr>
          <a:xfrm>
            <a:off x="503999" y="1080000"/>
            <a:ext cx="1296000" cy="64800"/>
          </a:xfrm>
          <a:prstGeom prst="rect">
            <a:avLst/>
          </a:prstGeom>
          <a:solidFill>
            <a:srgbClr val="D3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00" y="1440000"/>
            <a:ext cx="4248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D2733"/>
                </a:solidFill>
                <a:latin typeface="Microsoft JhengHei"/>
              </a:defRPr>
            </a:pPr>
            <a:r>
              <a:t>登入後台：/Account/Login，使用 admin / ChangeMe123!</a:t>
            </a:r>
          </a:p>
          <a:p>
            <a:pPr>
              <a:spcAft>
                <a:spcPts val="800"/>
              </a:spcAft>
              <a:defRPr sz="1600">
                <a:solidFill>
                  <a:srgbClr val="1D2733"/>
                </a:solidFill>
                <a:latin typeface="Microsoft JhengHei"/>
              </a:defRPr>
            </a:pPr>
            <a:r>
              <a:t>課程維護：新增課程時需指定班級，例如 101、205、310</a:t>
            </a:r>
          </a:p>
          <a:p>
            <a:pPr>
              <a:spcAft>
                <a:spcPts val="800"/>
              </a:spcAft>
              <a:defRPr sz="1600">
                <a:solidFill>
                  <a:srgbClr val="1D2733"/>
                </a:solidFill>
                <a:latin typeface="Microsoft JhengHei"/>
              </a:defRPr>
            </a:pPr>
            <a:r>
              <a:t>課堂維護：設定主題、起訖時間與是否開放打卡</a:t>
            </a:r>
          </a:p>
          <a:p>
            <a:pPr>
              <a:spcAft>
                <a:spcPts val="800"/>
              </a:spcAft>
              <a:defRPr sz="1600">
                <a:solidFill>
                  <a:srgbClr val="1D2733"/>
                </a:solidFill>
                <a:latin typeface="Microsoft JhengHei"/>
              </a:defRPr>
            </a:pPr>
            <a:r>
              <a:t>QR 打卡板：課前投影或列印供學生掃碼</a:t>
            </a:r>
          </a:p>
          <a:p>
            <a:pPr>
              <a:spcAft>
                <a:spcPts val="800"/>
              </a:spcAft>
              <a:defRPr sz="1600">
                <a:solidFill>
                  <a:srgbClr val="1D2733"/>
                </a:solidFill>
                <a:latin typeface="Microsoft JhengHei"/>
              </a:defRPr>
            </a:pPr>
            <a:r>
              <a:t>Excel 匯出：課後下載單堂課出席紀錄</a:t>
            </a:r>
          </a:p>
          <a:p>
            <a:pPr>
              <a:spcAft>
                <a:spcPts val="800"/>
              </a:spcAft>
              <a:defRPr sz="1600">
                <a:solidFill>
                  <a:srgbClr val="1D2733"/>
                </a:solidFill>
                <a:latin typeface="Microsoft JhengHei"/>
              </a:defRPr>
            </a:pPr>
            <a:r>
              <a:t>可疑紀錄：針對異常來源與裝置行為進行複核</a:t>
            </a:r>
          </a:p>
        </p:txBody>
      </p:sp>
      <p:pic>
        <p:nvPicPr>
          <p:cNvPr id="6" name="Picture 5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00" y="1440000"/>
            <a:ext cx="3276000" cy="234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3999" y="6588000"/>
            <a:ext cx="84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3"/>
                </a:solidFill>
                <a:latin typeface="Microsoft JhengHei"/>
              </a:defRPr>
            </a:pPr>
            <a:r>
              <a:t>適合教務、導師或授課老師快速管理課堂出席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3999" y="324000"/>
            <a:ext cx="7488000" cy="75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D2733"/>
                </a:solidFill>
                <a:latin typeface="Microsoft JhengHei"/>
              </a:rPr>
              <a:t>系統特色整理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792000"/>
            <a:ext cx="73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773"/>
                </a:solidFill>
                <a:latin typeface="Microsoft JhengHei"/>
              </a:rPr>
              <a:t>這個專案目前已經做到什麼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3999" y="1080000"/>
            <a:ext cx="1296000" cy="64800"/>
          </a:xfrm>
          <a:prstGeom prst="rect">
            <a:avLst/>
          </a:prstGeom>
          <a:solidFill>
            <a:srgbClr val="D3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3999" y="1440000"/>
            <a:ext cx="2015999" cy="2448000"/>
          </a:xfrm>
          <a:prstGeom prst="roundRect">
            <a:avLst/>
          </a:prstGeom>
          <a:solidFill>
            <a:srgbClr val="FFFFFF"/>
          </a:solidFill>
          <a:ln>
            <a:solidFill>
              <a:srgbClr val="D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999" y="1565999"/>
            <a:ext cx="1728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3F3D"/>
                </a:solidFill>
                <a:latin typeface="Microsoft JhengHei"/>
              </a:defRPr>
            </a:pPr>
            <a:r>
              <a:t>可落地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000" y="1835999"/>
            <a:ext cx="1763999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1D2733"/>
                </a:solidFill>
                <a:latin typeface="Microsoft JhengHei"/>
              </a:defRPr>
            </a:pPr>
            <a:r>
              <a:t>單機即可執行</a:t>
            </a:r>
          </a:p>
          <a:p>
            <a:pPr>
              <a:spcAft>
                <a:spcPts val="800"/>
              </a:spcAft>
              <a:defRPr sz="1350">
                <a:solidFill>
                  <a:srgbClr val="1D2733"/>
                </a:solidFill>
                <a:latin typeface="Microsoft JhengHei"/>
              </a:defRPr>
            </a:pPr>
            <a:r>
              <a:t>不需外接資料庫</a:t>
            </a:r>
          </a:p>
          <a:p>
            <a:pPr>
              <a:spcAft>
                <a:spcPts val="800"/>
              </a:spcAft>
              <a:defRPr sz="1350">
                <a:solidFill>
                  <a:srgbClr val="1D2733"/>
                </a:solidFill>
                <a:latin typeface="Microsoft JhengHei"/>
              </a:defRPr>
            </a:pPr>
            <a:r>
              <a:t>教室現場能直接使用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00000" y="1440000"/>
            <a:ext cx="2015999" cy="2448000"/>
          </a:xfrm>
          <a:prstGeom prst="roundRect">
            <a:avLst/>
          </a:prstGeom>
          <a:solidFill>
            <a:srgbClr val="FFFFFF"/>
          </a:solidFill>
          <a:ln>
            <a:solidFill>
              <a:srgbClr val="D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44000" y="1565999"/>
            <a:ext cx="1728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3F3D"/>
                </a:solidFill>
                <a:latin typeface="Microsoft JhengHei"/>
              </a:defRPr>
            </a:pPr>
            <a:r>
              <a:t>可管理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6000" y="1835999"/>
            <a:ext cx="1763999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1D2733"/>
                </a:solidFill>
                <a:latin typeface="Microsoft JhengHei"/>
              </a:defRPr>
            </a:pPr>
            <a:r>
              <a:t>後台維護課程與課堂</a:t>
            </a:r>
          </a:p>
          <a:p>
            <a:pPr>
              <a:spcAft>
                <a:spcPts val="800"/>
              </a:spcAft>
              <a:defRPr sz="1350">
                <a:solidFill>
                  <a:srgbClr val="1D2733"/>
                </a:solidFill>
                <a:latin typeface="Microsoft JhengHei"/>
              </a:defRPr>
            </a:pPr>
            <a:r>
              <a:t>Excel 匯出</a:t>
            </a:r>
          </a:p>
          <a:p>
            <a:pPr>
              <a:spcAft>
                <a:spcPts val="800"/>
              </a:spcAft>
              <a:defRPr sz="1350">
                <a:solidFill>
                  <a:srgbClr val="1D2733"/>
                </a:solidFill>
                <a:latin typeface="Microsoft JhengHei"/>
              </a:defRPr>
            </a:pPr>
            <a:r>
              <a:t>可疑打卡追蹤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6000" y="1440000"/>
            <a:ext cx="2015999" cy="2448000"/>
          </a:xfrm>
          <a:prstGeom prst="roundRect">
            <a:avLst/>
          </a:prstGeom>
          <a:solidFill>
            <a:srgbClr val="FFFFFF"/>
          </a:solidFill>
          <a:ln>
            <a:solidFill>
              <a:srgbClr val="D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40000" y="1565999"/>
            <a:ext cx="1728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3F3D"/>
                </a:solidFill>
                <a:latin typeface="Microsoft JhengHei"/>
              </a:defRPr>
            </a:pPr>
            <a:r>
              <a:t>可擴充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2000" y="1835999"/>
            <a:ext cx="1763999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1D2733"/>
                </a:solidFill>
                <a:latin typeface="Microsoft JhengHei"/>
              </a:defRPr>
            </a:pPr>
            <a:r>
              <a:t>可接校務單一登入</a:t>
            </a:r>
          </a:p>
          <a:p>
            <a:pPr>
              <a:spcAft>
                <a:spcPts val="800"/>
              </a:spcAft>
              <a:defRPr sz="1350">
                <a:solidFill>
                  <a:srgbClr val="1D2733"/>
                </a:solidFill>
                <a:latin typeface="Microsoft JhengHei"/>
              </a:defRPr>
            </a:pPr>
            <a:r>
              <a:t>可接資料庫與多角色</a:t>
            </a:r>
          </a:p>
          <a:p>
            <a:pPr>
              <a:spcAft>
                <a:spcPts val="800"/>
              </a:spcAft>
              <a:defRPr sz="1350">
                <a:solidFill>
                  <a:srgbClr val="1D2733"/>
                </a:solidFill>
                <a:latin typeface="Microsoft JhengHei"/>
              </a:defRPr>
            </a:pPr>
            <a:r>
              <a:t>可做統計與儀表板分析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92000" y="1440000"/>
            <a:ext cx="1512000" cy="2448000"/>
          </a:xfrm>
          <a:prstGeom prst="roundRect">
            <a:avLst/>
          </a:prstGeom>
          <a:solidFill>
            <a:srgbClr val="FFFFFF"/>
          </a:solidFill>
          <a:ln>
            <a:solidFill>
              <a:srgbClr val="D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5999" y="1565999"/>
            <a:ext cx="1224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3F3D"/>
                </a:solidFill>
                <a:latin typeface="Microsoft JhengHei"/>
              </a:defRPr>
            </a:pPr>
            <a:r>
              <a:t>目前限制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8000" y="1835999"/>
            <a:ext cx="126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>
                <a:solidFill>
                  <a:srgbClr val="1D2733"/>
                </a:solidFill>
                <a:latin typeface="Microsoft JhengHei"/>
              </a:defRPr>
            </a:pPr>
            <a:r>
              <a:t>仍是單機版</a:t>
            </a:r>
          </a:p>
          <a:p>
            <a:pPr>
              <a:spcAft>
                <a:spcPts val="800"/>
              </a:spcAft>
              <a:defRPr sz="1350">
                <a:solidFill>
                  <a:srgbClr val="1D2733"/>
                </a:solidFill>
                <a:latin typeface="Microsoft JhengHei"/>
              </a:defRPr>
            </a:pPr>
            <a:r>
              <a:t>未串校務帳號</a:t>
            </a:r>
          </a:p>
          <a:p>
            <a:pPr>
              <a:spcAft>
                <a:spcPts val="800"/>
              </a:spcAft>
              <a:defRPr sz="1350">
                <a:solidFill>
                  <a:srgbClr val="1D2733"/>
                </a:solidFill>
                <a:latin typeface="Microsoft JhengHei"/>
              </a:defRPr>
            </a:pPr>
            <a:r>
              <a:t>未做簽退與請假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999" y="6588000"/>
            <a:ext cx="84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3"/>
                </a:solidFill>
                <a:latin typeface="Microsoft JhengHei"/>
              </a:defRPr>
            </a:pPr>
            <a:r>
              <a:t>目前版本已適合展示概念、流程與實作成果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3999" y="324000"/>
            <a:ext cx="7488000" cy="75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D2733"/>
                </a:solidFill>
                <a:latin typeface="Microsoft JhengHei"/>
              </a:rPr>
              <a:t>後續發展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792000"/>
            <a:ext cx="73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C6773"/>
                </a:solidFill>
                <a:latin typeface="Microsoft JhengHei"/>
              </a:rPr>
              <a:t>下一階段可以延伸的方向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503999" y="1080000"/>
            <a:ext cx="1296000" cy="64800"/>
          </a:xfrm>
          <a:prstGeom prst="rect">
            <a:avLst/>
          </a:prstGeom>
          <a:solidFill>
            <a:srgbClr val="D3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000" y="1475999"/>
            <a:ext cx="7740000" cy="3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D2733"/>
                </a:solidFill>
                <a:latin typeface="Microsoft JhengHei"/>
              </a:defRPr>
            </a:pPr>
            <a:r>
              <a:t>管理者密碼變更與多帳號權限管理</a:t>
            </a:r>
          </a:p>
          <a:p>
            <a:pPr>
              <a:spcAft>
                <a:spcPts val="800"/>
              </a:spcAft>
              <a:defRPr sz="1700">
                <a:solidFill>
                  <a:srgbClr val="1D2733"/>
                </a:solidFill>
                <a:latin typeface="Microsoft JhengHei"/>
              </a:defRPr>
            </a:pPr>
            <a:r>
              <a:t>學生簽退、缺席統計、請假流程</a:t>
            </a:r>
          </a:p>
          <a:p>
            <a:pPr>
              <a:spcAft>
                <a:spcPts val="800"/>
              </a:spcAft>
              <a:defRPr sz="1700">
                <a:solidFill>
                  <a:srgbClr val="1D2733"/>
                </a:solidFill>
                <a:latin typeface="Microsoft JhengHei"/>
              </a:defRPr>
            </a:pPr>
            <a:r>
              <a:t>學生帳號與班級 SSID 網段維護後台</a:t>
            </a:r>
          </a:p>
          <a:p>
            <a:pPr>
              <a:spcAft>
                <a:spcPts val="800"/>
              </a:spcAft>
              <a:defRPr sz="1700">
                <a:solidFill>
                  <a:srgbClr val="1D2733"/>
                </a:solidFill>
                <a:latin typeface="Microsoft JhengHei"/>
              </a:defRPr>
            </a:pPr>
            <a:r>
              <a:t>校務單一登入整合，取代示範帳號</a:t>
            </a:r>
          </a:p>
          <a:p>
            <a:pPr>
              <a:spcAft>
                <a:spcPts val="800"/>
              </a:spcAft>
              <a:defRPr sz="1700">
                <a:solidFill>
                  <a:srgbClr val="1D2733"/>
                </a:solidFill>
                <a:latin typeface="Microsoft JhengHei"/>
              </a:defRPr>
            </a:pPr>
            <a:r>
              <a:t>圖表化出席分析與班級出缺席報表</a:t>
            </a:r>
          </a:p>
          <a:p>
            <a:pPr>
              <a:spcAft>
                <a:spcPts val="800"/>
              </a:spcAft>
              <a:defRPr sz="1700">
                <a:solidFill>
                  <a:srgbClr val="1D2733"/>
                </a:solidFill>
                <a:latin typeface="Microsoft JhengHei"/>
              </a:defRPr>
            </a:pPr>
            <a:r>
              <a:t>自動化測試與 CI 驗證，提升維護品質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3999" y="6588000"/>
            <a:ext cx="84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3"/>
                </a:solidFill>
                <a:latin typeface="Microsoft JhengHei"/>
              </a:defRPr>
            </a:pPr>
            <a:r>
              <a:t>專案已具備可延伸基礎，後續重點在整合與治理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3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664000" y="1944000"/>
            <a:ext cx="37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>
                <a:solidFill>
                  <a:srgbClr val="FFFFFF"/>
                </a:solidFill>
                <a:latin typeface="Microsoft JhengHei"/>
              </a:defRPr>
            </a:pPr>
            <a:r>
              <a:t>簡報完畢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000" y="2628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7DBC7"/>
                </a:solidFill>
                <a:latin typeface="Microsoft JhengHei"/>
              </a:defRPr>
            </a:pPr>
            <a:r>
              <a:t>課堂打卡系統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36000" y="3240000"/>
            <a:ext cx="3671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7DBC7"/>
                </a:solidFill>
                <a:latin typeface="Microsoft JhengHei"/>
              </a:defRPr>
            </a:pPr>
            <a:r>
              <a:t>問題討論 / Demo 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3999" y="6588000"/>
            <a:ext cx="84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773"/>
                </a:solidFill>
                <a:latin typeface="Microsoft JhengHei"/>
              </a:defRPr>
            </a:pPr>
            <a:r>
              <a:t>G:\codex_pg\課堂打卡系統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